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  <p:sldMasterId id="2147483679" r:id="rId5"/>
  </p:sldMasterIdLst>
  <p:notesMasterIdLst>
    <p:notesMasterId r:id="rId23"/>
  </p:notesMasterIdLst>
  <p:sldIdLst>
    <p:sldId id="256" r:id="rId6"/>
    <p:sldId id="297" r:id="rId7"/>
    <p:sldId id="258" r:id="rId8"/>
    <p:sldId id="259" r:id="rId9"/>
    <p:sldId id="298" r:id="rId10"/>
    <p:sldId id="299" r:id="rId11"/>
    <p:sldId id="262" r:id="rId12"/>
    <p:sldId id="306" r:id="rId13"/>
    <p:sldId id="300" r:id="rId14"/>
    <p:sldId id="312" r:id="rId15"/>
    <p:sldId id="263" r:id="rId16"/>
    <p:sldId id="308" r:id="rId17"/>
    <p:sldId id="307" r:id="rId18"/>
    <p:sldId id="310" r:id="rId19"/>
    <p:sldId id="309" r:id="rId20"/>
    <p:sldId id="311" r:id="rId21"/>
    <p:sldId id="304" r:id="rId22"/>
  </p:sldIdLst>
  <p:sldSz cx="9144000" cy="5143500" type="screen16x9"/>
  <p:notesSz cx="6858000" cy="9144000"/>
  <p:embeddedFontLst>
    <p:embeddedFont>
      <p:font typeface="Anaheim" pitchFamily="2" charset="77"/>
      <p:regular r:id="rId24"/>
      <p:bold r:id="rId25"/>
    </p:embeddedFont>
    <p:embeddedFont>
      <p:font typeface="Nunito Light" pitchFamily="2" charset="77"/>
      <p:regular r:id="rId26"/>
      <p:italic r:id="rId27"/>
    </p:embeddedFont>
    <p:embeddedFont>
      <p:font typeface="Poppins" pitchFamily="2" charset="77"/>
      <p:regular r:id="rId28"/>
      <p:bold r:id="rId29"/>
      <p:italic r:id="rId30"/>
    </p:embeddedFont>
    <p:embeddedFont>
      <p:font typeface="Proxima Nova" panose="02000506030000020004" pitchFamily="2" charset="0"/>
      <p:regular r:id="rId31"/>
      <p:bold r:id="rId32"/>
      <p:italic r:id="rId33"/>
      <p:boldItalic r:id="rId34"/>
    </p:embeddedFont>
    <p:embeddedFont>
      <p:font typeface="Proxima Nova Semibold" panose="02000506030000020004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A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7A75C-66AB-456F-99A8-C0238D02FAC8}" v="88" dt="2025-11-24T02:01:42.599"/>
    <p1510:client id="{BAD023A9-D263-BC96-F8C5-B01C29EBB92E}" v="59" dt="2025-11-24T01:38:14.045"/>
  </p1510:revLst>
</p1510:revInfo>
</file>

<file path=ppt/tableStyles.xml><?xml version="1.0" encoding="utf-8"?>
<a:tblStyleLst xmlns:a="http://schemas.openxmlformats.org/drawingml/2006/main" def="{3C771520-BBEC-4D34-9F7A-A9542DD003DC}">
  <a:tblStyle styleId="{3C771520-BBEC-4D34-9F7A-A9542DD003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8EC6E0F-A411-4E1D-B7F9-40AF7C02A55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3.fntdata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font" Target="fonts/font11.fntdata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6.fntdata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>
          <a:extLst>
            <a:ext uri="{FF2B5EF4-FFF2-40B4-BE49-F238E27FC236}">
              <a16:creationId xmlns:a16="http://schemas.microsoft.com/office/drawing/2014/main" id="{A525314B-D55D-B467-0CEF-DCE8618E8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>
            <a:extLst>
              <a:ext uri="{FF2B5EF4-FFF2-40B4-BE49-F238E27FC236}">
                <a16:creationId xmlns:a16="http://schemas.microsoft.com/office/drawing/2014/main" id="{14695B7E-78D1-3486-E3EF-3C103F4A7B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>
            <a:extLst>
              <a:ext uri="{FF2B5EF4-FFF2-40B4-BE49-F238E27FC236}">
                <a16:creationId xmlns:a16="http://schemas.microsoft.com/office/drawing/2014/main" id="{C921C0EC-90F0-8B96-9F11-BD45E7C1A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3764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>
          <a:extLst>
            <a:ext uri="{FF2B5EF4-FFF2-40B4-BE49-F238E27FC236}">
              <a16:creationId xmlns:a16="http://schemas.microsoft.com/office/drawing/2014/main" id="{C05F65D3-CC4D-BCC9-EACB-2F84486B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>
            <a:extLst>
              <a:ext uri="{FF2B5EF4-FFF2-40B4-BE49-F238E27FC236}">
                <a16:creationId xmlns:a16="http://schemas.microsoft.com/office/drawing/2014/main" id="{CE96C131-2C44-0A8A-1543-B9140950F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>
            <a:extLst>
              <a:ext uri="{FF2B5EF4-FFF2-40B4-BE49-F238E27FC236}">
                <a16:creationId xmlns:a16="http://schemas.microsoft.com/office/drawing/2014/main" id="{D88698F3-2F73-BE77-19BB-AFE5BC1E77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6374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>
          <a:extLst>
            <a:ext uri="{FF2B5EF4-FFF2-40B4-BE49-F238E27FC236}">
              <a16:creationId xmlns:a16="http://schemas.microsoft.com/office/drawing/2014/main" id="{08A6AF6E-7724-B674-CECD-AEC3492A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>
            <a:extLst>
              <a:ext uri="{FF2B5EF4-FFF2-40B4-BE49-F238E27FC236}">
                <a16:creationId xmlns:a16="http://schemas.microsoft.com/office/drawing/2014/main" id="{C6363358-1FE1-8463-06E0-2A610E745E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>
            <a:extLst>
              <a:ext uri="{FF2B5EF4-FFF2-40B4-BE49-F238E27FC236}">
                <a16:creationId xmlns:a16="http://schemas.microsoft.com/office/drawing/2014/main" id="{F0A62028-9F22-4DA8-F966-242B2A3F82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403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>
          <a:extLst>
            <a:ext uri="{FF2B5EF4-FFF2-40B4-BE49-F238E27FC236}">
              <a16:creationId xmlns:a16="http://schemas.microsoft.com/office/drawing/2014/main" id="{DBB161C6-4759-004B-43A5-48C4A520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>
            <a:extLst>
              <a:ext uri="{FF2B5EF4-FFF2-40B4-BE49-F238E27FC236}">
                <a16:creationId xmlns:a16="http://schemas.microsoft.com/office/drawing/2014/main" id="{ED2357D2-80C3-427F-A3F5-7794558D5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>
            <a:extLst>
              <a:ext uri="{FF2B5EF4-FFF2-40B4-BE49-F238E27FC236}">
                <a16:creationId xmlns:a16="http://schemas.microsoft.com/office/drawing/2014/main" id="{24F27453-456C-6CE4-1BFA-F52923DA6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4102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>
          <a:extLst>
            <a:ext uri="{FF2B5EF4-FFF2-40B4-BE49-F238E27FC236}">
              <a16:creationId xmlns:a16="http://schemas.microsoft.com/office/drawing/2014/main" id="{70508B67-10D1-2EC2-7C63-3CFE37E9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>
            <a:extLst>
              <a:ext uri="{FF2B5EF4-FFF2-40B4-BE49-F238E27FC236}">
                <a16:creationId xmlns:a16="http://schemas.microsoft.com/office/drawing/2014/main" id="{DC084775-130A-4075-3A65-BBFEE302D3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>
            <a:extLst>
              <a:ext uri="{FF2B5EF4-FFF2-40B4-BE49-F238E27FC236}">
                <a16:creationId xmlns:a16="http://schemas.microsoft.com/office/drawing/2014/main" id="{E05DEBF1-A96A-A82A-EBFC-93B684959A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5111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>
          <a:extLst>
            <a:ext uri="{FF2B5EF4-FFF2-40B4-BE49-F238E27FC236}">
              <a16:creationId xmlns:a16="http://schemas.microsoft.com/office/drawing/2014/main" id="{A942CDCF-335A-938C-85DE-E935989E8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>
            <a:extLst>
              <a:ext uri="{FF2B5EF4-FFF2-40B4-BE49-F238E27FC236}">
                <a16:creationId xmlns:a16="http://schemas.microsoft.com/office/drawing/2014/main" id="{7A574CD2-4258-147D-25EB-1B54B5660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>
            <a:extLst>
              <a:ext uri="{FF2B5EF4-FFF2-40B4-BE49-F238E27FC236}">
                <a16:creationId xmlns:a16="http://schemas.microsoft.com/office/drawing/2014/main" id="{E72E15EA-D674-4182-2709-04E4ADC081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5538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2476500" y="2839950"/>
            <a:ext cx="4191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70784" y="263618"/>
            <a:ext cx="1768000" cy="135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9144000" cy="5158300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5031" y="0"/>
            <a:ext cx="9149031" cy="5153900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3835425" y="801507"/>
            <a:ext cx="4089300" cy="10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subTitle" idx="1"/>
          </p:nvPr>
        </p:nvSpPr>
        <p:spPr>
          <a:xfrm>
            <a:off x="3835425" y="1898175"/>
            <a:ext cx="40893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4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131" name="Google Shape;131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>
            <a:spLocks noGrp="1"/>
          </p:cNvSpPr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subTitle" idx="1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subTitle" idx="2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3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subTitle" idx="4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subTitle" idx="5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subTitle" idx="6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2" name="Google Shape;162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subTitle" idx="2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subTitle" idx="3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subTitle" idx="4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3" name="Google Shape;173;p18"/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75" name="Google Shape;175;p18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76" name="Google Shape;17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8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179" name="Google Shape;17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>
            <a:spLocks noGrp="1"/>
          </p:cNvSpPr>
          <p:nvPr>
            <p:ph type="title" hasCustomPrompt="1"/>
          </p:nvPr>
        </p:nvSpPr>
        <p:spPr>
          <a:xfrm>
            <a:off x="3099888" y="2045129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1" name="Google Shape;201;p20"/>
          <p:cNvSpPr txBox="1">
            <a:spLocks noGrp="1"/>
          </p:cNvSpPr>
          <p:nvPr>
            <p:ph type="subTitle" idx="1"/>
          </p:nvPr>
        </p:nvSpPr>
        <p:spPr>
          <a:xfrm>
            <a:off x="3099898" y="2737825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2" name="Google Shape;202;p20"/>
          <p:cNvSpPr txBox="1">
            <a:spLocks noGrp="1"/>
          </p:cNvSpPr>
          <p:nvPr>
            <p:ph type="title" idx="2" hasCustomPrompt="1"/>
          </p:nvPr>
        </p:nvSpPr>
        <p:spPr>
          <a:xfrm>
            <a:off x="3099904" y="669938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0"/>
          <p:cNvSpPr txBox="1">
            <a:spLocks noGrp="1"/>
          </p:cNvSpPr>
          <p:nvPr>
            <p:ph type="subTitle" idx="3"/>
          </p:nvPr>
        </p:nvSpPr>
        <p:spPr>
          <a:xfrm>
            <a:off x="3099904" y="1362646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4" name="Google Shape;204;p20"/>
          <p:cNvSpPr txBox="1">
            <a:spLocks noGrp="1"/>
          </p:cNvSpPr>
          <p:nvPr>
            <p:ph type="title" idx="4" hasCustomPrompt="1"/>
          </p:nvPr>
        </p:nvSpPr>
        <p:spPr>
          <a:xfrm>
            <a:off x="3099896" y="3420317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20"/>
          <p:cNvSpPr txBox="1">
            <a:spLocks noGrp="1"/>
          </p:cNvSpPr>
          <p:nvPr>
            <p:ph type="subTitle" idx="5"/>
          </p:nvPr>
        </p:nvSpPr>
        <p:spPr>
          <a:xfrm>
            <a:off x="3099906" y="4113013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206" name="Google Shape;206;p20"/>
          <p:cNvGrpSpPr/>
          <p:nvPr/>
        </p:nvGrpSpPr>
        <p:grpSpPr>
          <a:xfrm>
            <a:off x="0" y="0"/>
            <a:ext cx="9149044" cy="5153909"/>
            <a:chOff x="0" y="0"/>
            <a:chExt cx="9149044" cy="5153909"/>
          </a:xfrm>
        </p:grpSpPr>
        <p:grpSp>
          <p:nvGrpSpPr>
            <p:cNvPr id="207" name="Google Shape;207;p20"/>
            <p:cNvGrpSpPr/>
            <p:nvPr/>
          </p:nvGrpSpPr>
          <p:grpSpPr>
            <a:xfrm>
              <a:off x="2633519" y="4796608"/>
              <a:ext cx="6515525" cy="357300"/>
              <a:chOff x="2633519" y="4796608"/>
              <a:chExt cx="6515525" cy="357300"/>
            </a:xfrm>
          </p:grpSpPr>
          <p:pic>
            <p:nvPicPr>
              <p:cNvPr id="208" name="Google Shape;208;p2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33519" y="4796608"/>
                <a:ext cx="6515525" cy="3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9" name="Google Shape;209;p2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9407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0" name="Google Shape;210;p20"/>
            <p:cNvGrpSpPr/>
            <p:nvPr/>
          </p:nvGrpSpPr>
          <p:grpSpPr>
            <a:xfrm>
              <a:off x="0" y="0"/>
              <a:ext cx="6523526" cy="359400"/>
              <a:chOff x="0" y="0"/>
              <a:chExt cx="6523526" cy="359400"/>
            </a:xfrm>
          </p:grpSpPr>
          <p:pic>
            <p:nvPicPr>
              <p:cNvPr id="211" name="Google Shape;211;p2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2" name="Google Shape;212;p2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13" name="Google Shape;213;p20"/>
          <p:cNvPicPr preferRelativeResize="0"/>
          <p:nvPr/>
        </p:nvPicPr>
        <p:blipFill rotWithShape="1">
          <a:blip r:embed="rId6">
            <a:alphaModFix/>
          </a:blip>
          <a:srcRect t="129" b="129"/>
          <a:stretch/>
        </p:blipFill>
        <p:spPr>
          <a:xfrm rot="5400000">
            <a:off x="-128174" y="3562553"/>
            <a:ext cx="1716695" cy="1307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2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234" name="Google Shape;234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6" name="Google Shape;236;p23"/>
          <p:cNvPicPr preferRelativeResize="0"/>
          <p:nvPr/>
        </p:nvPicPr>
        <p:blipFill rotWithShape="1">
          <a:blip r:embed="rId5">
            <a:alphaModFix/>
          </a:blip>
          <a:srcRect r="56111" b="41941"/>
          <a:stretch/>
        </p:blipFill>
        <p:spPr>
          <a:xfrm rot="-5400000">
            <a:off x="8325038" y="4266787"/>
            <a:ext cx="775950" cy="7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8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284" name="Google Shape;284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" name="Google Shape;285;p28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286" name="Google Shape;286;p2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" name="Google Shape;287;p2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9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292" name="Google Shape;29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9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295" name="Google Shape;295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>
            <a:spLocks noGrp="1"/>
          </p:cNvSpPr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3" r:id="rId11"/>
    <p:sldLayoutId id="2147483664" r:id="rId12"/>
    <p:sldLayoutId id="2147483666" r:id="rId13"/>
    <p:sldLayoutId id="2147483669" r:id="rId14"/>
    <p:sldLayoutId id="2147483674" r:id="rId15"/>
    <p:sldLayoutId id="2147483675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>
            <a:spLocks noGrp="1"/>
          </p:cNvSpPr>
          <p:nvPr>
            <p:ph type="ctrTitle"/>
          </p:nvPr>
        </p:nvSpPr>
        <p:spPr>
          <a:xfrm>
            <a:off x="972300" y="2009111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noProof="0"/>
              <a:t>MANUFACTURING OF ZERO TOLERANCE FIT PRODUCT USING WIRE EDM</a:t>
            </a:r>
          </a:p>
        </p:txBody>
      </p:sp>
      <p:sp>
        <p:nvSpPr>
          <p:cNvPr id="308" name="Google Shape;308;p33"/>
          <p:cNvSpPr txBox="1">
            <a:spLocks noGrp="1"/>
          </p:cNvSpPr>
          <p:nvPr>
            <p:ph type="subTitle" idx="1"/>
          </p:nvPr>
        </p:nvSpPr>
        <p:spPr>
          <a:xfrm>
            <a:off x="898482" y="3529181"/>
            <a:ext cx="7199400" cy="5403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Manufacturing Technology </a:t>
            </a:r>
            <a:r>
              <a:rPr lang="en-IN" noProof="0">
                <a:latin typeface="MS Gothic" panose="020B0609070205080204" pitchFamily="49" charset="-128"/>
                <a:ea typeface="MS Gothic" panose="020B0609070205080204" pitchFamily="49" charset="-128"/>
                <a:cs typeface="Poppins" panose="00000500000000000000" pitchFamily="2" charset="0"/>
              </a:rPr>
              <a:t>Ⅱ(</a:t>
            </a:r>
            <a:r>
              <a:rPr lang="en-IN" noProof="0">
                <a:latin typeface="Poppins" panose="00000500000000000000" pitchFamily="2" charset="0"/>
                <a:ea typeface="MS Gothic" panose="020B0609070205080204" pitchFamily="49" charset="-128"/>
                <a:cs typeface="Poppins" panose="00000500000000000000" pitchFamily="2" charset="0"/>
              </a:rPr>
              <a:t>M</a:t>
            </a:r>
            <a:r>
              <a:rPr lang="en-IN" noProof="0"/>
              <a:t>E312) course project</a:t>
            </a:r>
          </a:p>
        </p:txBody>
      </p:sp>
      <p:pic>
        <p:nvPicPr>
          <p:cNvPr id="3" name="Picture 2" descr="A logo with a symbol in the middle&#10;&#10;Description automatically generated">
            <a:extLst>
              <a:ext uri="{FF2B5EF4-FFF2-40B4-BE49-F238E27FC236}">
                <a16:creationId xmlns:a16="http://schemas.microsoft.com/office/drawing/2014/main" id="{C677C984-A86C-594B-577E-C17491202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43" y="602646"/>
            <a:ext cx="833437" cy="8446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EF6693-23FA-9264-1410-EB681544D504}"/>
              </a:ext>
            </a:extLst>
          </p:cNvPr>
          <p:cNvSpPr txBox="1"/>
          <p:nvPr/>
        </p:nvSpPr>
        <p:spPr>
          <a:xfrm>
            <a:off x="2951322" y="1535354"/>
            <a:ext cx="30937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noProof="0"/>
              <a:t>Department of Mechanical Engineering</a:t>
            </a:r>
            <a:br>
              <a:rPr lang="en-IN" sz="1100" noProof="0"/>
            </a:br>
            <a:r>
              <a:rPr lang="en-IN" sz="1100" noProof="0"/>
              <a:t>Indian Institute of Technology Guwahati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D2B0-399F-DED2-D55D-6E81F957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3844" y="1542221"/>
            <a:ext cx="3657600" cy="472433"/>
          </a:xfrm>
        </p:spPr>
        <p:txBody>
          <a:bodyPr/>
          <a:lstStyle/>
          <a:p>
            <a:pPr algn="l"/>
            <a:r>
              <a:rPr lang="en-IN" sz="2000" noProof="0"/>
              <a:t>Team Members:</a:t>
            </a:r>
            <a:endParaRPr lang="en-IN" sz="2000" b="0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B6F778-A49B-0595-F207-CCBE06AC0896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705790" y="1234068"/>
            <a:ext cx="2914639" cy="1598342"/>
          </a:xfrm>
          <a:solidFill>
            <a:schemeClr val="bg2"/>
          </a:solidFill>
        </p:spPr>
        <p:txBody>
          <a:bodyPr/>
          <a:lstStyle/>
          <a:p>
            <a:endParaRPr lang="en-IN" b="1" noProof="0">
              <a:ln w="6350">
                <a:solidFill>
                  <a:schemeClr val="accent3">
                    <a:lumMod val="25000"/>
                  </a:schemeClr>
                </a:solidFill>
              </a:ln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52400" indent="0">
              <a:buNone/>
            </a:pPr>
            <a:r>
              <a:rPr lang="en-IN" sz="2000" b="1" noProof="0">
                <a:ln w="6350">
                  <a:solidFill>
                    <a:schemeClr val="accent3">
                      <a:lumMod val="25000"/>
                    </a:schemeClr>
                  </a:solidFill>
                </a:ln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Course Instructor</a:t>
            </a:r>
            <a:r>
              <a:rPr lang="en-IN" sz="2000" b="1" noProof="0">
                <a:ln>
                  <a:solidFill>
                    <a:schemeClr val="accent3">
                      <a:lumMod val="25000"/>
                    </a:schemeClr>
                  </a:solidFill>
                </a:ln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marL="152400" indent="0">
              <a:buNone/>
            </a:pPr>
            <a:br>
              <a:rPr lang="en-IN" sz="2000" b="1" noProof="0">
                <a:ln>
                  <a:solidFill>
                    <a:schemeClr val="accent3">
                      <a:lumMod val="25000"/>
                    </a:schemeClr>
                  </a:solidFill>
                </a:ln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400" b="1" noProof="0">
                <a:ln>
                  <a:solidFill>
                    <a:schemeClr val="accent3">
                      <a:lumMod val="25000"/>
                    </a:schemeClr>
                  </a:solidFill>
                </a:ln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Prof. U. K. Komal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F1CED-050F-13C4-5F42-C73718E6499A}"/>
              </a:ext>
            </a:extLst>
          </p:cNvPr>
          <p:cNvSpPr txBox="1"/>
          <p:nvPr/>
        </p:nvSpPr>
        <p:spPr>
          <a:xfrm>
            <a:off x="4542975" y="2022325"/>
            <a:ext cx="2602986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>
                <a:solidFill>
                  <a:srgbClr val="C00000"/>
                </a:solidFill>
              </a:rPr>
              <a:t>Rahul Yadav 	230103123</a:t>
            </a:r>
            <a:br>
              <a:rPr lang="en-IN"/>
            </a:br>
            <a:r>
              <a:rPr lang="en-IN">
                <a:solidFill>
                  <a:srgbClr val="FF0000"/>
                </a:solidFill>
              </a:rPr>
              <a:t>Ajay Pratap Singh	 	230103132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8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>
            <a:spLocks noGrp="1"/>
          </p:cNvSpPr>
          <p:nvPr>
            <p:ph type="title"/>
          </p:nvPr>
        </p:nvSpPr>
        <p:spPr>
          <a:xfrm>
            <a:off x="50927" y="79112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CONTENTS</a:t>
            </a:r>
          </a:p>
        </p:txBody>
      </p:sp>
      <p:sp>
        <p:nvSpPr>
          <p:cNvPr id="323" name="Google Shape;323;p35"/>
          <p:cNvSpPr txBox="1">
            <a:spLocks noGrp="1"/>
          </p:cNvSpPr>
          <p:nvPr>
            <p:ph type="title" idx="2"/>
          </p:nvPr>
        </p:nvSpPr>
        <p:spPr>
          <a:xfrm>
            <a:off x="1577966" y="1671453"/>
            <a:ext cx="694800" cy="6722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01</a:t>
            </a:r>
          </a:p>
        </p:txBody>
      </p:sp>
      <p:sp>
        <p:nvSpPr>
          <p:cNvPr id="324" name="Google Shape;324;p35"/>
          <p:cNvSpPr txBox="1">
            <a:spLocks noGrp="1"/>
          </p:cNvSpPr>
          <p:nvPr>
            <p:ph type="title" idx="3"/>
          </p:nvPr>
        </p:nvSpPr>
        <p:spPr>
          <a:xfrm>
            <a:off x="4407508" y="167145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04</a:t>
            </a:r>
          </a:p>
        </p:txBody>
      </p:sp>
      <p:sp>
        <p:nvSpPr>
          <p:cNvPr id="325" name="Google Shape;325;p35"/>
          <p:cNvSpPr txBox="1">
            <a:spLocks noGrp="1"/>
          </p:cNvSpPr>
          <p:nvPr>
            <p:ph type="title" idx="4"/>
          </p:nvPr>
        </p:nvSpPr>
        <p:spPr>
          <a:xfrm>
            <a:off x="1577966" y="2475429"/>
            <a:ext cx="694800" cy="5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02</a:t>
            </a:r>
          </a:p>
        </p:txBody>
      </p:sp>
      <p:sp>
        <p:nvSpPr>
          <p:cNvPr id="326" name="Google Shape;326;p35"/>
          <p:cNvSpPr txBox="1">
            <a:spLocks noGrp="1"/>
          </p:cNvSpPr>
          <p:nvPr>
            <p:ph type="title" idx="5"/>
          </p:nvPr>
        </p:nvSpPr>
        <p:spPr>
          <a:xfrm>
            <a:off x="4426708" y="2475429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05</a:t>
            </a:r>
          </a:p>
        </p:txBody>
      </p:sp>
      <p:sp>
        <p:nvSpPr>
          <p:cNvPr id="327" name="Google Shape;327;p35"/>
          <p:cNvSpPr txBox="1">
            <a:spLocks noGrp="1"/>
          </p:cNvSpPr>
          <p:nvPr>
            <p:ph type="title" idx="6"/>
          </p:nvPr>
        </p:nvSpPr>
        <p:spPr>
          <a:xfrm>
            <a:off x="1577966" y="3225878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03</a:t>
            </a:r>
          </a:p>
        </p:txBody>
      </p:sp>
      <p:sp>
        <p:nvSpPr>
          <p:cNvPr id="328" name="Google Shape;328;p35"/>
          <p:cNvSpPr txBox="1">
            <a:spLocks noGrp="1"/>
          </p:cNvSpPr>
          <p:nvPr>
            <p:ph type="title" idx="7"/>
          </p:nvPr>
        </p:nvSpPr>
        <p:spPr>
          <a:xfrm>
            <a:off x="4407508" y="329786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06</a:t>
            </a:r>
          </a:p>
        </p:txBody>
      </p:sp>
      <p:sp>
        <p:nvSpPr>
          <p:cNvPr id="329" name="Google Shape;329;p35"/>
          <p:cNvSpPr txBox="1">
            <a:spLocks noGrp="1"/>
          </p:cNvSpPr>
          <p:nvPr>
            <p:ph type="subTitle" idx="1"/>
          </p:nvPr>
        </p:nvSpPr>
        <p:spPr>
          <a:xfrm>
            <a:off x="1756386" y="1713988"/>
            <a:ext cx="2146541" cy="6269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 Introduction</a:t>
            </a:r>
          </a:p>
        </p:txBody>
      </p:sp>
      <p:sp>
        <p:nvSpPr>
          <p:cNvPr id="330" name="Google Shape;330;p35"/>
          <p:cNvSpPr txBox="1">
            <a:spLocks noGrp="1"/>
          </p:cNvSpPr>
          <p:nvPr>
            <p:ph type="subTitle" idx="8"/>
          </p:nvPr>
        </p:nvSpPr>
        <p:spPr>
          <a:xfrm>
            <a:off x="1577966" y="2439902"/>
            <a:ext cx="1975556" cy="5799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Objective</a:t>
            </a:r>
          </a:p>
        </p:txBody>
      </p:sp>
      <p:sp>
        <p:nvSpPr>
          <p:cNvPr id="331" name="Google Shape;331;p35"/>
          <p:cNvSpPr txBox="1">
            <a:spLocks noGrp="1"/>
          </p:cNvSpPr>
          <p:nvPr>
            <p:ph type="subTitle" idx="9"/>
          </p:nvPr>
        </p:nvSpPr>
        <p:spPr>
          <a:xfrm>
            <a:off x="2329446" y="3286928"/>
            <a:ext cx="167819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Basic Idea</a:t>
            </a:r>
          </a:p>
        </p:txBody>
      </p:sp>
      <p:sp>
        <p:nvSpPr>
          <p:cNvPr id="332" name="Google Shape;332;p35"/>
          <p:cNvSpPr txBox="1">
            <a:spLocks noGrp="1"/>
          </p:cNvSpPr>
          <p:nvPr>
            <p:ph type="subTitle" idx="13"/>
          </p:nvPr>
        </p:nvSpPr>
        <p:spPr>
          <a:xfrm>
            <a:off x="5225895" y="1684447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Machine</a:t>
            </a:r>
          </a:p>
        </p:txBody>
      </p:sp>
      <p:sp>
        <p:nvSpPr>
          <p:cNvPr id="333" name="Google Shape;333;p35"/>
          <p:cNvSpPr txBox="1">
            <a:spLocks noGrp="1"/>
          </p:cNvSpPr>
          <p:nvPr>
            <p:ph type="subTitle" idx="14"/>
          </p:nvPr>
        </p:nvSpPr>
        <p:spPr>
          <a:xfrm>
            <a:off x="5225895" y="2475429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Theory &amp; Procedure</a:t>
            </a:r>
          </a:p>
        </p:txBody>
      </p:sp>
      <p:sp>
        <p:nvSpPr>
          <p:cNvPr id="334" name="Google Shape;334;p35"/>
          <p:cNvSpPr txBox="1">
            <a:spLocks noGrp="1"/>
          </p:cNvSpPr>
          <p:nvPr>
            <p:ph type="subTitle" idx="15"/>
          </p:nvPr>
        </p:nvSpPr>
        <p:spPr>
          <a:xfrm>
            <a:off x="5225895" y="3297863"/>
            <a:ext cx="2529032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Results &amp; Analysis</a:t>
            </a:r>
          </a:p>
        </p:txBody>
      </p:sp>
      <p:sp>
        <p:nvSpPr>
          <p:cNvPr id="2" name="Google Shape;328;p35">
            <a:extLst>
              <a:ext uri="{FF2B5EF4-FFF2-40B4-BE49-F238E27FC236}">
                <a16:creationId xmlns:a16="http://schemas.microsoft.com/office/drawing/2014/main" id="{5F7C67B4-47C4-CB72-7CD3-9EC2F7A5A9E1}"/>
              </a:ext>
            </a:extLst>
          </p:cNvPr>
          <p:cNvSpPr txBox="1">
            <a:spLocks/>
          </p:cNvSpPr>
          <p:nvPr/>
        </p:nvSpPr>
        <p:spPr>
          <a:xfrm>
            <a:off x="3038605" y="4088845"/>
            <a:ext cx="694800" cy="6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IN"/>
              <a:t>07</a:t>
            </a:r>
          </a:p>
        </p:txBody>
      </p:sp>
      <p:sp>
        <p:nvSpPr>
          <p:cNvPr id="3" name="Google Shape;334;p35">
            <a:extLst>
              <a:ext uri="{FF2B5EF4-FFF2-40B4-BE49-F238E27FC236}">
                <a16:creationId xmlns:a16="http://schemas.microsoft.com/office/drawing/2014/main" id="{4E3F6EDB-83D4-DF07-6552-4947243A8737}"/>
              </a:ext>
            </a:extLst>
          </p:cNvPr>
          <p:cNvSpPr txBox="1">
            <a:spLocks/>
          </p:cNvSpPr>
          <p:nvPr/>
        </p:nvSpPr>
        <p:spPr>
          <a:xfrm>
            <a:off x="3856992" y="4088845"/>
            <a:ext cx="2529032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IN"/>
              <a:t>Concluding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3B81EF-DEC0-4992-D99E-2122055F45A0}"/>
              </a:ext>
            </a:extLst>
          </p:cNvPr>
          <p:cNvSpPr/>
          <p:nvPr/>
        </p:nvSpPr>
        <p:spPr>
          <a:xfrm>
            <a:off x="7566660" y="3246120"/>
            <a:ext cx="1577340" cy="1897380"/>
          </a:xfrm>
          <a:prstGeom prst="rect">
            <a:avLst/>
          </a:prstGeom>
          <a:ln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  <p:sp>
        <p:nvSpPr>
          <p:cNvPr id="341" name="Google Shape;341;p36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6554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INTRODUCTION</a:t>
            </a:r>
          </a:p>
        </p:txBody>
      </p:sp>
      <p:sp>
        <p:nvSpPr>
          <p:cNvPr id="342" name="Google Shape;342;p36"/>
          <p:cNvSpPr txBox="1">
            <a:spLocks noGrp="1"/>
          </p:cNvSpPr>
          <p:nvPr>
            <p:ph type="subTitle" idx="1"/>
          </p:nvPr>
        </p:nvSpPr>
        <p:spPr>
          <a:xfrm>
            <a:off x="438161" y="1711934"/>
            <a:ext cx="4294800" cy="2844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buSzPts val="1100"/>
              <a:buFont typeface="Arial" panose="020B0604020202020204" pitchFamily="34" charset="0"/>
              <a:buChar char="•"/>
            </a:pPr>
            <a:r>
              <a:rPr lang="en-IN" sz="1400" noProof="0" dirty="0"/>
              <a:t>Sometimes, tolerances in manufactured products are a great hindrance to the function of the equipment, like in sealing.</a:t>
            </a:r>
            <a:endParaRPr lang="en-US" dirty="0"/>
          </a:p>
          <a:p>
            <a:pPr marL="171450" lvl="0" indent="-171450" algn="just">
              <a:buSzPts val="1100"/>
              <a:buFont typeface="Arial" panose="020B0604020202020204" pitchFamily="34" charset="0"/>
              <a:buChar char="•"/>
            </a:pPr>
            <a:r>
              <a:rPr lang="en-IN" sz="1400" noProof="0" dirty="0"/>
              <a:t>Therefore, it becomes necessary to check and try newer machining methods that can handle the problems arising from old conventions.</a:t>
            </a:r>
          </a:p>
          <a:p>
            <a:pPr marL="171450" lvl="0" indent="-171450" algn="just">
              <a:buSzPts val="1100"/>
              <a:buFont typeface="Arial" panose="020B0604020202020204" pitchFamily="34" charset="0"/>
              <a:buChar char="•"/>
            </a:pPr>
            <a:r>
              <a:rPr lang="en-IN" sz="1400" noProof="0" dirty="0"/>
              <a:t>It has also found some advanced applications other than sealing, like being motion guides for slow but accurately moving parts.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6F215BC-4B1A-0F96-2136-B4D8AB45360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389" b="1389"/>
          <a:stretch/>
        </p:blipFill>
        <p:spPr>
          <a:xfrm>
            <a:off x="5759524" y="1109092"/>
            <a:ext cx="2005919" cy="2925316"/>
          </a:xfrm>
          <a:prstGeom prst="round2DiagRect">
            <a:avLst>
              <a:gd name="adj1" fmla="val 9053"/>
              <a:gd name="adj2" fmla="val 21086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59BB85-EA8C-05B4-FC53-26B55065F7DA}"/>
              </a:ext>
            </a:extLst>
          </p:cNvPr>
          <p:cNvSpPr/>
          <p:nvPr/>
        </p:nvSpPr>
        <p:spPr>
          <a:xfrm>
            <a:off x="7696200" y="3247698"/>
            <a:ext cx="1447800" cy="1895801"/>
          </a:xfrm>
          <a:prstGeom prst="rect">
            <a:avLst/>
          </a:prstGeom>
          <a:ln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  <p:sp>
        <p:nvSpPr>
          <p:cNvPr id="5" name="Google Shape;358;p38">
            <a:extLst>
              <a:ext uri="{FF2B5EF4-FFF2-40B4-BE49-F238E27FC236}">
                <a16:creationId xmlns:a16="http://schemas.microsoft.com/office/drawing/2014/main" id="{E5894CEB-E947-57D2-1726-4A568D710B1E}"/>
              </a:ext>
            </a:extLst>
          </p:cNvPr>
          <p:cNvSpPr txBox="1">
            <a:spLocks/>
          </p:cNvSpPr>
          <p:nvPr/>
        </p:nvSpPr>
        <p:spPr>
          <a:xfrm>
            <a:off x="526691" y="722008"/>
            <a:ext cx="290042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-IN" noProof="0"/>
              <a:t>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9C5E2B-E753-F5C5-A45D-7077DC201B62}"/>
              </a:ext>
            </a:extLst>
          </p:cNvPr>
          <p:cNvSpPr txBox="1"/>
          <p:nvPr/>
        </p:nvSpPr>
        <p:spPr>
          <a:xfrm>
            <a:off x="698809" y="1556087"/>
            <a:ext cx="7746381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noProof="0"/>
              <a:t>To try wire electric discharge machining (EDM) </a:t>
            </a:r>
            <a:r>
              <a:rPr lang="en-IN" noProof="0"/>
              <a:t>as an option to remove tolerance in component fits.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noProof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noProof="0"/>
              <a:t>Achieve ultra-high dimensional accuracy </a:t>
            </a:r>
            <a:r>
              <a:rPr lang="en-IN" noProof="0"/>
              <a:t>by using Wire EDM to produce components with near-zero-tolerance variation.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noProof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noProof="0"/>
              <a:t>Also, to get a generic idea of machining time </a:t>
            </a:r>
            <a:r>
              <a:rPr lang="en-IN" noProof="0"/>
              <a:t>in this process.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noProof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noProof="0"/>
              <a:t>Ensure perfect component fit </a:t>
            </a:r>
            <a:r>
              <a:rPr lang="en-IN" noProof="0"/>
              <a:t>to eliminate assembly issues, misalignment, and unwanted play.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noProof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noProof="0"/>
              <a:t>A simple semi-circular geometry </a:t>
            </a:r>
            <a:r>
              <a:rPr lang="en-IN" noProof="0"/>
              <a:t>was cut during the first trial of precision cutting.</a:t>
            </a:r>
          </a:p>
        </p:txBody>
      </p:sp>
    </p:spTree>
    <p:extLst>
      <p:ext uri="{BB962C8B-B14F-4D97-AF65-F5344CB8AC3E}">
        <p14:creationId xmlns:p14="http://schemas.microsoft.com/office/powerpoint/2010/main" val="2994301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C77A68-1C46-5577-1B28-B6B360DA7E42}"/>
              </a:ext>
            </a:extLst>
          </p:cNvPr>
          <p:cNvSpPr/>
          <p:nvPr/>
        </p:nvSpPr>
        <p:spPr>
          <a:xfrm>
            <a:off x="7696200" y="3291840"/>
            <a:ext cx="1447800" cy="1851660"/>
          </a:xfrm>
          <a:prstGeom prst="rect">
            <a:avLst/>
          </a:prstGeom>
          <a:ln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584695-76D7-C6BF-3FC4-7170DC6BF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47" y="583678"/>
            <a:ext cx="4294800" cy="1062600"/>
          </a:xfrm>
        </p:spPr>
        <p:txBody>
          <a:bodyPr/>
          <a:lstStyle/>
          <a:p>
            <a:r>
              <a:rPr lang="en-IN" noProof="0" dirty="0"/>
              <a:t>BASIC IDEA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F562AF-C979-DAD7-CE55-EF51EA712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284" y="1646278"/>
            <a:ext cx="7699255" cy="2503500"/>
          </a:xfrm>
        </p:spPr>
        <p:txBody>
          <a:bodyPr/>
          <a:lstStyle/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 dirty="0"/>
              <a:t>Wire Electrical Discharge Machining (EDM) uses a thin, continuously-fed conductive wire as an electrode to cut intricate shapes in electrically conductive materials.</a:t>
            </a:r>
            <a:endParaRPr lang="en-US" dirty="0"/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 dirty="0"/>
              <a:t>A series of sparks, controlled by a program, erodes the workpiece by melting and vaporising material without direct contact, achieving high precision and excellent surface finish.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dirty="0"/>
              <a:t>This process is carried out in a dielectric medium, generally de-ionised water.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 dirty="0"/>
              <a:t>Dielectric ensures the electric insulation and then breaks down to erode the workpiece by producing an electric discharge.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dirty="0"/>
              <a:t>Since it is done electrically using a controlled voltage and current, production of a part with exceptional dimensional accuracy is expected.</a:t>
            </a:r>
            <a:endParaRPr lang="en-IN" sz="1400" noProof="0" dirty="0"/>
          </a:p>
          <a:p>
            <a:pPr algn="just"/>
            <a:endParaRPr lang="en-IN" sz="1400" noProof="0" dirty="0"/>
          </a:p>
          <a:p>
            <a:endParaRPr lang="en-IN" sz="1400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pPr marL="152400" indent="0">
              <a:buNone/>
            </a:pPr>
            <a:endParaRPr lang="en-IN" sz="1400" b="1" noProof="0" dirty="0"/>
          </a:p>
        </p:txBody>
      </p:sp>
    </p:spTree>
    <p:extLst>
      <p:ext uri="{BB962C8B-B14F-4D97-AF65-F5344CB8AC3E}">
        <p14:creationId xmlns:p14="http://schemas.microsoft.com/office/powerpoint/2010/main" val="2794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>
            <a:spLocks noGrp="1"/>
          </p:cNvSpPr>
          <p:nvPr>
            <p:ph type="title"/>
          </p:nvPr>
        </p:nvSpPr>
        <p:spPr>
          <a:xfrm>
            <a:off x="720000" y="40045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Machine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CFB715-6120-8B7F-DB96-F43328A88A54}"/>
              </a:ext>
            </a:extLst>
          </p:cNvPr>
          <p:cNvSpPr txBox="1"/>
          <p:nvPr/>
        </p:nvSpPr>
        <p:spPr>
          <a:xfrm>
            <a:off x="647097" y="3765467"/>
            <a:ext cx="2230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De-ionised water storage tank</a:t>
            </a:r>
            <a:endParaRPr lang="en-IN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62A006-59DB-7094-F323-B08037559D43}"/>
              </a:ext>
            </a:extLst>
          </p:cNvPr>
          <p:cNvSpPr txBox="1"/>
          <p:nvPr/>
        </p:nvSpPr>
        <p:spPr>
          <a:xfrm>
            <a:off x="3669924" y="3873189"/>
            <a:ext cx="200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Wire Bundle</a:t>
            </a:r>
            <a:endParaRPr lang="en-IN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C2A509-3531-143D-08A8-BC6070F3D496}"/>
              </a:ext>
            </a:extLst>
          </p:cNvPr>
          <p:cNvSpPr txBox="1"/>
          <p:nvPr/>
        </p:nvSpPr>
        <p:spPr>
          <a:xfrm>
            <a:off x="6553294" y="3873189"/>
            <a:ext cx="200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Cutting head</a:t>
            </a:r>
            <a:endParaRPr lang="en-IN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 descr="Storage tank for de-ionised water">
            <a:extLst>
              <a:ext uri="{FF2B5EF4-FFF2-40B4-BE49-F238E27FC236}">
                <a16:creationId xmlns:a16="http://schemas.microsoft.com/office/drawing/2014/main" id="{F2EBD7D3-50D3-F0AE-2D55-DECA6BD38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280911"/>
            <a:ext cx="1791449" cy="2388598"/>
          </a:xfrm>
          <a:prstGeom prst="rect">
            <a:avLst/>
          </a:prstGeom>
        </p:spPr>
      </p:pic>
      <p:pic>
        <p:nvPicPr>
          <p:cNvPr id="5" name="Picture 4" descr="A machine with a piece of metal&#10;&#10;AI-generated content may be incorrect.">
            <a:extLst>
              <a:ext uri="{FF2B5EF4-FFF2-40B4-BE49-F238E27FC236}">
                <a16:creationId xmlns:a16="http://schemas.microsoft.com/office/drawing/2014/main" id="{2164D641-5373-D8DE-E9E9-5A63F1B74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703" y="1280911"/>
            <a:ext cx="1826297" cy="2435062"/>
          </a:xfrm>
          <a:prstGeom prst="rect">
            <a:avLst/>
          </a:prstGeom>
        </p:spPr>
      </p:pic>
      <p:pic>
        <p:nvPicPr>
          <p:cNvPr id="8" name="Picture 7" descr="A machine with a circular object&#10;&#10;AI-generated content may be incorrect.">
            <a:extLst>
              <a:ext uri="{FF2B5EF4-FFF2-40B4-BE49-F238E27FC236}">
                <a16:creationId xmlns:a16="http://schemas.microsoft.com/office/drawing/2014/main" id="{31F66E7B-7943-7931-E847-AD9389DE4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9924" y="1284746"/>
            <a:ext cx="1819196" cy="24077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2CC30-BB5E-E160-83AF-E852D7ECF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8BA844-0BDB-2021-6F04-4F4F43FC2FCE}"/>
              </a:ext>
            </a:extLst>
          </p:cNvPr>
          <p:cNvSpPr/>
          <p:nvPr/>
        </p:nvSpPr>
        <p:spPr>
          <a:xfrm>
            <a:off x="7696200" y="3291840"/>
            <a:ext cx="1447800" cy="1851660"/>
          </a:xfrm>
          <a:prstGeom prst="rect">
            <a:avLst/>
          </a:prstGeom>
          <a:ln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1ED16-701C-A765-215B-37FBAE01B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490" y="583678"/>
            <a:ext cx="4294800" cy="1062600"/>
          </a:xfrm>
        </p:spPr>
        <p:txBody>
          <a:bodyPr/>
          <a:lstStyle/>
          <a:p>
            <a:r>
              <a:rPr lang="en-IN" noProof="0"/>
              <a:t>Procedure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4F1A22-1824-90CB-5F73-A5D8E11B395F}"/>
              </a:ext>
            </a:extLst>
          </p:cNvPr>
          <p:cNvSpPr txBox="1"/>
          <p:nvPr/>
        </p:nvSpPr>
        <p:spPr>
          <a:xfrm>
            <a:off x="671490" y="1646278"/>
            <a:ext cx="4572000" cy="28931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IN" dirty="0"/>
              <a:t>It is done with two similar metal pieces, one cut using </a:t>
            </a:r>
            <a:r>
              <a:rPr lang="en-US" dirty="0"/>
              <a:t>the wire EDM process, and the other is cut from another bar, adjusting for the wire diameter to obtain an </a:t>
            </a:r>
            <a:r>
              <a:rPr lang="en-IN" dirty="0"/>
              <a:t>absolute fit, just a repetition of the procedure.</a:t>
            </a:r>
            <a:endParaRPr lang="en-US" dirty="0"/>
          </a:p>
          <a:p>
            <a:pPr lvl="2" algn="just"/>
            <a:endParaRPr lang="en-IN" dirty="0"/>
          </a:p>
          <a:p>
            <a:pPr marL="342900" lvl="2" indent="-342900" algn="just">
              <a:buFont typeface="+mj-lt"/>
              <a:buAutoNum type="arabicPeriod"/>
            </a:pPr>
            <a:r>
              <a:rPr lang="en-IN" dirty="0"/>
              <a:t>The bar is fixed on a fixed rail, and the dielectric flow is turned on; instructions are fed by a CAD drawing.</a:t>
            </a:r>
          </a:p>
          <a:p>
            <a:pPr marL="342900" lvl="2" indent="-342900" algn="just">
              <a:buFont typeface="+mj-lt"/>
              <a:buAutoNum type="arabicPeriod"/>
            </a:pPr>
            <a:r>
              <a:rPr lang="en-US" dirty="0"/>
              <a:t>An electrical voltage is applied between the wire (cathode) and the workpiece (anode), creating an electrical field. When the gap between them is sufficiently small, the dielectric fluid </a:t>
            </a:r>
            <a:r>
              <a:rPr lang="en-US" dirty="0" err="1"/>
              <a:t>ionises</a:t>
            </a:r>
            <a:r>
              <a:rPr lang="en-US" dirty="0"/>
              <a:t>, allowing a controlled spark to erode the workpiece.</a:t>
            </a:r>
          </a:p>
        </p:txBody>
      </p:sp>
      <p:pic>
        <p:nvPicPr>
          <p:cNvPr id="3" name="Picture 2" descr="A machine with a piece of metal">
            <a:extLst>
              <a:ext uri="{FF2B5EF4-FFF2-40B4-BE49-F238E27FC236}">
                <a16:creationId xmlns:a16="http://schemas.microsoft.com/office/drawing/2014/main" id="{FC753269-0CCB-665C-F97F-72DA1D4F92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315" y="1721086"/>
            <a:ext cx="2219195" cy="295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27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171CE5-2E88-349D-BB93-4B0C98DB0370}"/>
              </a:ext>
            </a:extLst>
          </p:cNvPr>
          <p:cNvSpPr txBox="1"/>
          <p:nvPr/>
        </p:nvSpPr>
        <p:spPr>
          <a:xfrm>
            <a:off x="821473" y="557561"/>
            <a:ext cx="75010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/>
              <a:t>3. </a:t>
            </a:r>
            <a:r>
              <a:rPr lang="en-US" b="1"/>
              <a:t>Material Erosion</a:t>
            </a:r>
            <a:r>
              <a:rPr lang="en-US"/>
              <a:t>: Each spark generates intense </a:t>
            </a:r>
            <a:r>
              <a:rPr lang="en-US" err="1"/>
              <a:t>localised</a:t>
            </a:r>
            <a:r>
              <a:rPr lang="en-US"/>
              <a:t> heat, causing a tiny amount of material on the workpiece surface to melt and </a:t>
            </a:r>
            <a:r>
              <a:rPr lang="en-US" err="1"/>
              <a:t>vaporise</a:t>
            </a:r>
            <a:r>
              <a:rPr lang="en-US"/>
              <a:t>. This material then solidifies into small debris particles that are carried away by the continuously flowing dielectric fluid.</a:t>
            </a:r>
          </a:p>
          <a:p>
            <a:pPr algn="just"/>
            <a:endParaRPr lang="en-US"/>
          </a:p>
          <a:p>
            <a:pPr algn="just"/>
            <a:r>
              <a:rPr lang="en-US"/>
              <a:t>4. </a:t>
            </a:r>
            <a:r>
              <a:rPr lang="en-US" b="1"/>
              <a:t>Wire Movement &amp; Continuous Cutting</a:t>
            </a:r>
            <a:r>
              <a:rPr lang="en-US"/>
              <a:t>: The wire continuously feeds through the workpiece, guided by upper and lower guides, while maintaining a constant gap. The CNC system precisely controls the wire's path, dictating the shape of the cut as it incrementally removes material through repeated spark discharges.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F86BC6-5F79-D847-504C-4539B30B7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74" y="2373443"/>
            <a:ext cx="1966332" cy="1442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E0B701-974A-80F7-CB4E-C4C762630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121" y="2373443"/>
            <a:ext cx="1737652" cy="1442903"/>
          </a:xfrm>
          <a:prstGeom prst="rect">
            <a:avLst/>
          </a:prstGeom>
        </p:spPr>
      </p:pic>
      <p:pic>
        <p:nvPicPr>
          <p:cNvPr id="11" name="Picture 10" descr="Cut parts as obtained.">
            <a:extLst>
              <a:ext uri="{FF2B5EF4-FFF2-40B4-BE49-F238E27FC236}">
                <a16:creationId xmlns:a16="http://schemas.microsoft.com/office/drawing/2014/main" id="{3B77A3D5-682C-3974-9FF9-C3EDBC855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088" y="2373444"/>
            <a:ext cx="1083766" cy="1445022"/>
          </a:xfrm>
          <a:prstGeom prst="rect">
            <a:avLst/>
          </a:prstGeom>
        </p:spPr>
      </p:pic>
      <p:pic>
        <p:nvPicPr>
          <p:cNvPr id="13" name="Picture 12" descr="A rusty rectangular object on a white surface&#10;&#10;AI-generated content may be incorrect.">
            <a:extLst>
              <a:ext uri="{FF2B5EF4-FFF2-40B4-BE49-F238E27FC236}">
                <a16:creationId xmlns:a16="http://schemas.microsoft.com/office/drawing/2014/main" id="{2ADCB569-E72F-A99E-C49B-BAEC355D95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5239" y="2373443"/>
            <a:ext cx="1082177" cy="14429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2368F2-DF12-6E27-298D-874F09DA1002}"/>
              </a:ext>
            </a:extLst>
          </p:cNvPr>
          <p:cNvSpPr txBox="1"/>
          <p:nvPr/>
        </p:nvSpPr>
        <p:spPr>
          <a:xfrm>
            <a:off x="989632" y="3871629"/>
            <a:ext cx="1966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CAD Drawing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50A30D-9B27-980A-AAEB-211666AC5F9F}"/>
              </a:ext>
            </a:extLst>
          </p:cNvPr>
          <p:cNvSpPr txBox="1"/>
          <p:nvPr/>
        </p:nvSpPr>
        <p:spPr>
          <a:xfrm>
            <a:off x="3124121" y="3917796"/>
            <a:ext cx="1737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Working Process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9F8745-73CC-C99A-F650-78E9F53FBBBF}"/>
              </a:ext>
            </a:extLst>
          </p:cNvPr>
          <p:cNvSpPr txBox="1"/>
          <p:nvPr/>
        </p:nvSpPr>
        <p:spPr>
          <a:xfrm>
            <a:off x="5198088" y="3917796"/>
            <a:ext cx="1083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Cut Pieces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5EF2CD-A4B7-A48F-BB33-795869ED36E6}"/>
              </a:ext>
            </a:extLst>
          </p:cNvPr>
          <p:cNvSpPr txBox="1"/>
          <p:nvPr/>
        </p:nvSpPr>
        <p:spPr>
          <a:xfrm>
            <a:off x="6585239" y="3871629"/>
            <a:ext cx="1082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Final Product</a:t>
            </a:r>
          </a:p>
        </p:txBody>
      </p:sp>
    </p:spTree>
    <p:extLst>
      <p:ext uri="{BB962C8B-B14F-4D97-AF65-F5344CB8AC3E}">
        <p14:creationId xmlns:p14="http://schemas.microsoft.com/office/powerpoint/2010/main" val="3653869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05ED74DB-505E-9B47-B49C-E6762C9D6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6470D88B-665C-1B71-B391-98CD84A5C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Voltage or Current</a:t>
            </a:r>
            <a:br>
              <a:rPr lang="en-IN" noProof="0"/>
            </a:br>
            <a:endParaRPr lang="en-IN" noProof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4745B0A-7C5D-46B0-7B1E-EC7F46A60D30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70313" y="1591430"/>
            <a:ext cx="5196405" cy="2843804"/>
          </a:xfrm>
        </p:spPr>
        <p:txBody>
          <a:bodyPr/>
          <a:lstStyle/>
          <a:p>
            <a:pPr marL="152400" indent="0"/>
            <a:r>
              <a:rPr lang="en-IN" sz="1400" noProof="0" dirty="0">
                <a:solidFill>
                  <a:schemeClr val="tx1"/>
                </a:solidFill>
              </a:rPr>
              <a:t>Voltage </a:t>
            </a:r>
            <a:r>
              <a:rPr lang="en-IN" sz="1400" dirty="0">
                <a:solidFill>
                  <a:schemeClr val="tx1"/>
                </a:solidFill>
              </a:rPr>
              <a:t>and</a:t>
            </a:r>
            <a:r>
              <a:rPr lang="en-IN" sz="1400" noProof="0" dirty="0">
                <a:solidFill>
                  <a:schemeClr val="tx1"/>
                </a:solidFill>
              </a:rPr>
              <a:t> Current: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It can be seen from the image on the right-hand side that it is the voltage that needs to be high; current is around 0.4-0.5 A, whereas the voltage is around 80 V during regular operation.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 dirty="0">
                <a:solidFill>
                  <a:schemeClr val="tx1"/>
                </a:solidFill>
              </a:rPr>
              <a:t>This amount of current can be observed almost anywhere, but the high voltage is </a:t>
            </a:r>
            <a:r>
              <a:rPr lang="en-IN" sz="1400" dirty="0">
                <a:solidFill>
                  <a:schemeClr val="tx1"/>
                </a:solidFill>
              </a:rPr>
              <a:t>especially required for the breakdown of water.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 dirty="0">
                <a:solidFill>
                  <a:schemeClr val="tx1"/>
                </a:solidFill>
              </a:rPr>
              <a:t>The local current within the dielectric may be high, but that does not travel through the wires. </a:t>
            </a:r>
            <a:r>
              <a:rPr lang="en-IN" sz="1400" dirty="0">
                <a:solidFill>
                  <a:schemeClr val="tx1"/>
                </a:solidFill>
              </a:rPr>
              <a:t>It is locally generated and circulated between the workpiece and the wire.</a:t>
            </a:r>
            <a:endParaRPr lang="en-IN" sz="1400" noProof="0" dirty="0">
              <a:solidFill>
                <a:schemeClr val="tx1"/>
              </a:solidFill>
            </a:endParaRPr>
          </a:p>
        </p:txBody>
      </p:sp>
      <p:pic>
        <p:nvPicPr>
          <p:cNvPr id="15" name="Picture 14" descr="A close-up of a device&#10;&#10;AI-generated content may be incorrect.">
            <a:extLst>
              <a:ext uri="{FF2B5EF4-FFF2-40B4-BE49-F238E27FC236}">
                <a16:creationId xmlns:a16="http://schemas.microsoft.com/office/drawing/2014/main" id="{FF14C42F-D0EF-C81D-A26F-CE96836E7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862" y="1112200"/>
            <a:ext cx="2849138" cy="379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40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Final Output</a:t>
            </a:r>
            <a:br>
              <a:rPr lang="en-IN" noProof="0"/>
            </a:br>
            <a:endParaRPr lang="en-IN" noProof="0"/>
          </a:p>
        </p:txBody>
      </p:sp>
      <p:pic>
        <p:nvPicPr>
          <p:cNvPr id="3" name="Picture 2" descr="A rusty rectangular object on a white surface&#10;&#10;AI-generated content may be incorrect.">
            <a:extLst>
              <a:ext uri="{FF2B5EF4-FFF2-40B4-BE49-F238E27FC236}">
                <a16:creationId xmlns:a16="http://schemas.microsoft.com/office/drawing/2014/main" id="{9F028ED6-823E-90AA-0720-F7E6E57A7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393277" y="495607"/>
            <a:ext cx="3699558" cy="4932744"/>
          </a:xfrm>
          <a:prstGeom prst="rect">
            <a:avLst/>
          </a:prstGeom>
        </p:spPr>
      </p:pic>
      <p:pic>
        <p:nvPicPr>
          <p:cNvPr id="6" name="Picture 5" descr="Cut parts as obtained.">
            <a:extLst>
              <a:ext uri="{FF2B5EF4-FFF2-40B4-BE49-F238E27FC236}">
                <a16:creationId xmlns:a16="http://schemas.microsoft.com/office/drawing/2014/main" id="{1E228019-9C5D-1FD8-FBBF-DE550C1E7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316" y="1112199"/>
            <a:ext cx="2774667" cy="36995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3BCFCF91-64AF-FD3E-F912-B18587996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5C7F2698-1AE3-EAD9-DBED-DC69E9E5DF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023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Results and Analysis</a:t>
            </a:r>
            <a:br>
              <a:rPr lang="en-IN" noProof="0" dirty="0"/>
            </a:br>
            <a:endParaRPr lang="en-IN" noProof="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BCA35B4-89AB-F44D-DDA7-FAA7329756E0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62092" y="1760195"/>
            <a:ext cx="5514962" cy="2843804"/>
          </a:xfrm>
        </p:spPr>
        <p:txBody>
          <a:bodyPr/>
          <a:lstStyle/>
          <a:p>
            <a:pPr marL="152400" indent="0"/>
            <a:r>
              <a:rPr lang="en-IN" sz="1400" noProof="0">
                <a:solidFill>
                  <a:schemeClr val="tx1"/>
                </a:solidFill>
              </a:rPr>
              <a:t>The Product: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It was prepared using two separate bars (visit the last slide), so that the wire diameter could be adjusted for.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Obtained a product with very high accuracy (compared to the conventional machining processes).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The product obtained was excellent, extremely good finish in the cut part and low tolerance. 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Observe a very low </a:t>
            </a:r>
            <a:r>
              <a:rPr lang="en-US" sz="1400">
                <a:solidFill>
                  <a:schemeClr val="tx1"/>
                </a:solidFill>
              </a:rPr>
              <a:t>seam in the picture on the right-hand side</a:t>
            </a:r>
            <a:r>
              <a:rPr lang="en-IN" sz="1400">
                <a:solidFill>
                  <a:schemeClr val="tx1"/>
                </a:solidFill>
              </a:rPr>
              <a:t>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Elimination of the seam, however, could not be done. The next slide tries to figure out the reasons.</a:t>
            </a:r>
          </a:p>
        </p:txBody>
      </p:sp>
      <p:pic>
        <p:nvPicPr>
          <p:cNvPr id="3" name="Picture 2" descr="A rusty rectangular object on a white surface&#10;&#10;AI-generated content may be incorrect.">
            <a:extLst>
              <a:ext uri="{FF2B5EF4-FFF2-40B4-BE49-F238E27FC236}">
                <a16:creationId xmlns:a16="http://schemas.microsoft.com/office/drawing/2014/main" id="{E1A5DD99-8D25-A2A5-0787-FE0618331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054" y="1112200"/>
            <a:ext cx="2788917" cy="371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42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812464CF-7F15-8632-634A-0F0D42A5B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A4948267-7CF8-B864-F510-BD8700D494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noProof="0"/>
            </a:br>
            <a:endParaRPr lang="en-IN" noProof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30AC6882-9F79-C9C0-9481-47246CE4970F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96500" y="824532"/>
            <a:ext cx="5523571" cy="3491799"/>
          </a:xfrm>
        </p:spPr>
        <p:txBody>
          <a:bodyPr/>
          <a:lstStyle/>
          <a:p>
            <a:pPr marL="152400" indent="0" algn="just"/>
            <a:r>
              <a:rPr lang="en-IN" sz="1400" noProof="0">
                <a:solidFill>
                  <a:schemeClr val="tx1"/>
                </a:solidFill>
              </a:rPr>
              <a:t>The visible seam:</a:t>
            </a:r>
            <a:endParaRPr lang="en-US"/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With the seam, there is a slight misorientation that can also be observed.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We find this misorientation to be one of the reasons for the visible seam.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The two bars on the rail were slightly misoriented due to the reason that straightness was observed using a conventional straight edge, which made the other part slightly skewed to the initial part.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Resultantly, the part could not be fitted perfectly.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Another reason is that we could not optimise the machining parameters like duty cycle and the feed rate.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One more reason is that the wire diameter was not known precisely; we were told it was 0.1 mm, and we used it.</a:t>
            </a:r>
          </a:p>
        </p:txBody>
      </p:sp>
      <p:pic>
        <p:nvPicPr>
          <p:cNvPr id="3" name="Picture 2" descr="A rusty rectangular object on a white surface&#10;&#10;AI-generated content may be incorrect.">
            <a:extLst>
              <a:ext uri="{FF2B5EF4-FFF2-40B4-BE49-F238E27FC236}">
                <a16:creationId xmlns:a16="http://schemas.microsoft.com/office/drawing/2014/main" id="{242905F4-4D90-0BD8-6B30-516A5161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383" y="598234"/>
            <a:ext cx="2788917" cy="371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19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B2C7D709-D020-78CF-B697-820F7038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EE76F494-67CE-48A4-7675-D966B30B5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Machining Time</a:t>
            </a:r>
            <a:br>
              <a:rPr lang="en-IN" noProof="0"/>
            </a:br>
            <a:endParaRPr lang="en-IN" noProof="0"/>
          </a:p>
        </p:txBody>
      </p:sp>
      <p:pic>
        <p:nvPicPr>
          <p:cNvPr id="5" name="Picture 4" descr="A computer screen with a blue circle&#10;&#10;AI-generated content may be incorrect.">
            <a:extLst>
              <a:ext uri="{FF2B5EF4-FFF2-40B4-BE49-F238E27FC236}">
                <a16:creationId xmlns:a16="http://schemas.microsoft.com/office/drawing/2014/main" id="{C02EA762-3A30-8486-0EAC-5442E44A8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1" y="1112200"/>
            <a:ext cx="5079381" cy="380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41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9F479C00-4EBD-1662-AEFC-1B4ADE9B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8CB1662B-5134-5336-4E24-1CE98A8035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Results and Analysis</a:t>
            </a:r>
            <a:br>
              <a:rPr lang="en-IN" noProof="0"/>
            </a:br>
            <a:endParaRPr lang="en-IN" noProof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7A484895-1D91-768B-FAC6-6D78E8F0867B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70038" y="1568416"/>
            <a:ext cx="5196405" cy="2843804"/>
          </a:xfrm>
        </p:spPr>
        <p:txBody>
          <a:bodyPr/>
          <a:lstStyle/>
          <a:p>
            <a:pPr marL="152400" indent="0"/>
            <a:r>
              <a:rPr lang="en-IN" sz="1400" noProof="0">
                <a:solidFill>
                  <a:schemeClr val="tx1"/>
                </a:solidFill>
              </a:rPr>
              <a:t>The Machining Time: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To cut simply one semicircular piece</a:t>
            </a:r>
            <a:r>
              <a:rPr lang="en-US" sz="1400">
                <a:solidFill>
                  <a:schemeClr val="tx1"/>
                </a:solidFill>
              </a:rPr>
              <a:t>, the time taken was 32 minutes and 31 seconds</a:t>
            </a:r>
            <a:r>
              <a:rPr lang="en-IN" sz="1400">
                <a:solidFill>
                  <a:schemeClr val="tx1"/>
                </a:solidFill>
              </a:rPr>
              <a:t>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We needed</a:t>
            </a:r>
            <a:r>
              <a:rPr lang="en-IN" sz="1400">
                <a:solidFill>
                  <a:schemeClr val="tx1"/>
                </a:solidFill>
              </a:rPr>
              <a:t> to align the second piece as well, almost parallel to the first piece, which took several minutes.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Then, again, the same process that added half an hour more.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Then</a:t>
            </a:r>
            <a:r>
              <a:rPr lang="en-IN" sz="1400">
                <a:solidFill>
                  <a:schemeClr val="tx1"/>
                </a:solidFill>
              </a:rPr>
              <a:t>, to remove the excess material, it took around 20 minutes.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Overall, it resulted</a:t>
            </a:r>
            <a:r>
              <a:rPr lang="en-IN" sz="1400">
                <a:solidFill>
                  <a:schemeClr val="tx1"/>
                </a:solidFill>
              </a:rPr>
              <a:t> in around two hours for this simple geometry.</a:t>
            </a:r>
            <a:endParaRPr lang="en-IN" sz="1400" noProof="0">
              <a:solidFill>
                <a:schemeClr val="tx1"/>
              </a:solidFill>
            </a:endParaRPr>
          </a:p>
        </p:txBody>
      </p:sp>
      <p:pic>
        <p:nvPicPr>
          <p:cNvPr id="2" name="Picture 1" descr="A computer screen with a blue circle&#10;&#10;AI-generated content may be incorrect.">
            <a:extLst>
              <a:ext uri="{FF2B5EF4-FFF2-40B4-BE49-F238E27FC236}">
                <a16:creationId xmlns:a16="http://schemas.microsoft.com/office/drawing/2014/main" id="{87F4006E-3AE4-105C-C83D-EF3CB26F4C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485" b="66553"/>
          <a:stretch>
            <a:fillRect/>
          </a:stretch>
        </p:blipFill>
        <p:spPr>
          <a:xfrm>
            <a:off x="5658497" y="1379589"/>
            <a:ext cx="2765503" cy="322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308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ACE7F3F5-4449-2183-CBF1-5C108393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8BCC7117-7794-78A7-2DF0-BE8683BAAA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Concluding Statement</a:t>
            </a:r>
            <a:br>
              <a:rPr lang="en-IN" noProof="0"/>
            </a:br>
            <a:endParaRPr lang="en-IN" noProof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772A9E03-E48F-68E9-93B9-E761DE702340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719998" y="1390186"/>
            <a:ext cx="7704001" cy="3213814"/>
          </a:xfrm>
        </p:spPr>
        <p:txBody>
          <a:bodyPr/>
          <a:lstStyle/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Though good results can be obtained using wire electric discharge machining, it is still not a very good way of eliminating the tolerance.</a:t>
            </a:r>
            <a:endParaRPr lang="en-US"/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Since it uses double the material that actually goes into the use, it is a waste of material and time as well.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It should be preferred only when the manufacturing of such a component is extremely necessary and no other machining process can do better on that.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We must explore alternatives that </a:t>
            </a:r>
            <a:r>
              <a:rPr lang="en-US" sz="1400">
                <a:solidFill>
                  <a:schemeClr val="tx1"/>
                </a:solidFill>
              </a:rPr>
              <a:t>save the material, energy and time, all three, as all of them are used twice as much as </a:t>
            </a:r>
            <a:r>
              <a:rPr lang="en-IN" sz="1400" noProof="0">
                <a:solidFill>
                  <a:schemeClr val="tx1"/>
                </a:solidFill>
              </a:rPr>
              <a:t>necessary.</a:t>
            </a:r>
          </a:p>
        </p:txBody>
      </p:sp>
    </p:spTree>
    <p:extLst>
      <p:ext uri="{BB962C8B-B14F-4D97-AF65-F5344CB8AC3E}">
        <p14:creationId xmlns:p14="http://schemas.microsoft.com/office/powerpoint/2010/main" val="2099126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4845-03FC-DC59-EEE8-236FED993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30" y="2059355"/>
            <a:ext cx="7697100" cy="482400"/>
          </a:xfrm>
        </p:spPr>
        <p:txBody>
          <a:bodyPr/>
          <a:lstStyle/>
          <a:p>
            <a:r>
              <a:rPr lang="en-IN" sz="3200" i="1" noProof="0">
                <a:latin typeface="Poppins" panose="00000500000000000000" pitchFamily="2" charset="0"/>
                <a:cs typeface="Poppins" panose="00000500000000000000" pitchFamily="2" charset="0"/>
              </a:rPr>
              <a:t>Thank You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9FEA0812-3032-5572-A799-176F27920DD5}"/>
              </a:ext>
            </a:extLst>
          </p:cNvPr>
          <p:cNvSpPr/>
          <p:nvPr/>
        </p:nvSpPr>
        <p:spPr>
          <a:xfrm>
            <a:off x="1040780" y="2877015"/>
            <a:ext cx="1152293" cy="110768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2E530F9A-2EAD-86F9-563B-D44800EC5D1C}"/>
              </a:ext>
            </a:extLst>
          </p:cNvPr>
          <p:cNvSpPr/>
          <p:nvPr/>
        </p:nvSpPr>
        <p:spPr>
          <a:xfrm>
            <a:off x="1040780" y="4304371"/>
            <a:ext cx="691376" cy="71367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5745048-0219-9E1B-9C09-98F59D8D36FA}"/>
              </a:ext>
            </a:extLst>
          </p:cNvPr>
          <p:cNvSpPr/>
          <p:nvPr/>
        </p:nvSpPr>
        <p:spPr>
          <a:xfrm>
            <a:off x="394010" y="3687337"/>
            <a:ext cx="765717" cy="71367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</p:spTree>
    <p:extLst>
      <p:ext uri="{BB962C8B-B14F-4D97-AF65-F5344CB8AC3E}">
        <p14:creationId xmlns:p14="http://schemas.microsoft.com/office/powerpoint/2010/main" val="3487222222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884EDF7E37A0478C03C166678425AE" ma:contentTypeVersion="7" ma:contentTypeDescription="Create a new document." ma:contentTypeScope="" ma:versionID="52a4c79340918b55174a233de92b52c2">
  <xsd:schema xmlns:xsd="http://www.w3.org/2001/XMLSchema" xmlns:xs="http://www.w3.org/2001/XMLSchema" xmlns:p="http://schemas.microsoft.com/office/2006/metadata/properties" xmlns:ns2="33bcd70d-229a-4711-9f0a-c4a90863b9bc" targetNamespace="http://schemas.microsoft.com/office/2006/metadata/properties" ma:root="true" ma:fieldsID="6eba5ae707e739a1b06d6b9859710247" ns2:_="">
    <xsd:import namespace="33bcd70d-229a-4711-9f0a-c4a90863b9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bcd70d-229a-4711-9f0a-c4a90863b9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C19456-8535-45DD-B75D-7F77FFD3D8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AF490F-9113-454B-A47E-612B2FAE5787}">
  <ds:schemaRefs>
    <ds:schemaRef ds:uri="33bcd70d-229a-4711-9f0a-c4a90863b9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F7E9E0D-74D7-4CCC-AC4B-9BF26F783974}">
  <ds:schemaRefs>
    <ds:schemaRef ds:uri="33bcd70d-229a-4711-9f0a-c4a90863b9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1091</Words>
  <Application>Microsoft Macintosh PowerPoint</Application>
  <PresentationFormat>On-screen Show (16:9)</PresentationFormat>
  <Paragraphs>135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Poppins</vt:lpstr>
      <vt:lpstr>MS Gothic</vt:lpstr>
      <vt:lpstr>PT Sans</vt:lpstr>
      <vt:lpstr>Proxima Nova Semibold</vt:lpstr>
      <vt:lpstr>Arial</vt:lpstr>
      <vt:lpstr>Nunito Light</vt:lpstr>
      <vt:lpstr>Anaheim</vt:lpstr>
      <vt:lpstr>Proxima Nova</vt:lpstr>
      <vt:lpstr>Industrial Preliminary Project by Slidesgo</vt:lpstr>
      <vt:lpstr>Slidesgo Final Pages</vt:lpstr>
      <vt:lpstr>MANUFACTURING OF ZERO TOLERANCE FIT PRODUCT USING WIRE EDM</vt:lpstr>
      <vt:lpstr>Team Members:</vt:lpstr>
      <vt:lpstr>CONTENTS</vt:lpstr>
      <vt:lpstr>INTRODUCTION</vt:lpstr>
      <vt:lpstr>PowerPoint Presentation</vt:lpstr>
      <vt:lpstr>BASIC IDEA</vt:lpstr>
      <vt:lpstr>Machine</vt:lpstr>
      <vt:lpstr>Procedure</vt:lpstr>
      <vt:lpstr>PowerPoint Presentation</vt:lpstr>
      <vt:lpstr>Voltage or Current </vt:lpstr>
      <vt:lpstr>Final Output </vt:lpstr>
      <vt:lpstr>Results and Analysis </vt:lpstr>
      <vt:lpstr> </vt:lpstr>
      <vt:lpstr>Machining Time </vt:lpstr>
      <vt:lpstr>Results and Analysis </vt:lpstr>
      <vt:lpstr>Concluding Statement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kavya lekha</dc:creator>
  <cp:lastModifiedBy>AJAY PRATAP SINGH</cp:lastModifiedBy>
  <cp:revision>3</cp:revision>
  <dcterms:modified xsi:type="dcterms:W3CDTF">2026-08-23T05:35:13Z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0x010100CF884EDF7E37A0478C03C166678425AE</vt:lpwstr>
  </property>
</Properties>
</file>